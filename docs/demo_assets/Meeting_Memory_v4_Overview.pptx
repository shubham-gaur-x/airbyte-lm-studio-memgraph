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Meeting Memory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pPr indent="0" marL="0"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Complete Overview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case, architecture, code, and live proof — one fully local pipeline, zero cloud inference.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530352" cy="530352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972" y="3201132"/>
            <a:ext cx="254569" cy="2545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363931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212848" y="3063240"/>
            <a:ext cx="530352" cy="530352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740" y="3201132"/>
            <a:ext cx="254569" cy="25456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938528" y="363931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785616" y="3063240"/>
            <a:ext cx="530352" cy="530352"/>
          </a:xfrm>
          <a:prstGeom prst="ellipse">
            <a:avLst/>
          </a:prstGeom>
          <a:solidFill>
            <a:srgbClr val="5C67F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3508" y="3201132"/>
            <a:ext cx="254569" cy="25456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11296" y="363931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5358384" y="3063240"/>
            <a:ext cx="530352" cy="530352"/>
          </a:xfrm>
          <a:prstGeom prst="ellipse">
            <a:avLst/>
          </a:prstGeom>
          <a:solidFill>
            <a:srgbClr val="0EA5E9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6276" y="3201132"/>
            <a:ext cx="254569" cy="254569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084064" y="363931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6931152" y="3063240"/>
            <a:ext cx="530352" cy="530352"/>
          </a:xfrm>
          <a:prstGeom prst="ellipse">
            <a:avLst/>
          </a:prstGeom>
          <a:solidFill>
            <a:srgbClr val="E11D48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9044" y="3201132"/>
            <a:ext cx="254569" cy="25456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656832" y="3639312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950" dirty="0"/>
          </a:p>
        </p:txBody>
      </p:sp>
      <p:sp>
        <p:nvSpPr>
          <p:cNvPr id="20" name="Text 13"/>
          <p:cNvSpPr/>
          <p:nvPr/>
        </p:nvSpPr>
        <p:spPr>
          <a:xfrm>
            <a:off x="640080" y="46405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Shubham Gaur  ·  July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Is, In One Slide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meeting-memory system: Gmail, Calendar, and Jira flow in through Airbyte, get turned into a queryable knowledge graph, and feed back into Jira and an autonomous coding agent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entirely on one MacBook — no cloud LLM, no cloud database, no per-token billing after the Airbyte sync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doesn't just store meetings — it computes influence (PageRank), remembers durable facts, decays stale context, recognizes workflows, and answers natural-language questions, grounded in real data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310896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1821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48640" y="37673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iterations to get here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587752" y="310896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87752" y="31821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679192" y="37673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 / meeting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18304" y="310896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31821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C6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809744" y="37673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848856" y="3108960"/>
            <a:ext cx="2011680" cy="1234440"/>
          </a:xfrm>
          <a:prstGeom prst="roundRect">
            <a:avLst>
              <a:gd name="adj" fmla="val 5185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48856" y="318211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6940296" y="37673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Docker/agent services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2 / 27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EXISTS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in Business Terms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2926080"/>
          </a:xfrm>
          <a:prstGeom prst="roundRect">
            <a:avLst>
              <a:gd name="adj" fmla="val 2414"/>
            </a:avLst>
          </a:prstGeom>
          <a:solidFill>
            <a:srgbClr val="0D1529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08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institutional knowledge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21792" y="21031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and commitments live in scattered docs and Slack threads, then vanish. Nobody can reconstruct who agreed to what.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46120" y="1371600"/>
            <a:ext cx="2651760" cy="2926080"/>
          </a:xfrm>
          <a:prstGeom prst="roundRect">
            <a:avLst>
              <a:gd name="adj" fmla="val 2414"/>
            </a:avLst>
          </a:prstGeom>
          <a:solidFill>
            <a:srgbClr val="0D1529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508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 tax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10712" y="21031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re-reads transcripts to write Jira tickets. Every hour spent here is an hour not spent building.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035040" y="1371600"/>
            <a:ext cx="2651760" cy="2926080"/>
          </a:xfrm>
          <a:prstGeom prst="roundRect">
            <a:avLst>
              <a:gd name="adj" fmla="val 2414"/>
            </a:avLst>
          </a:prstGeom>
          <a:solidFill>
            <a:srgbClr val="0D1529"/>
          </a:solidFill>
          <a:ln w="9525">
            <a:solidFill>
              <a:srgbClr val="5C6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99632" y="150876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LLM spend + exposure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199632" y="2103120"/>
            <a:ext cx="2331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extraction call to a hosted model is a per-token bill AND a copy of your meeting content leaving the building.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3 / 27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Iterations to Get Here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457200" cy="457200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1307592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+ Obsidian vault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600200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notes, no structure, nothing queryable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676656" y="1801368"/>
            <a:ext cx="18288" cy="3200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39696"/>
            <a:ext cx="457200" cy="45720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139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2103120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 + Confluence + Jira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2395728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automation, still no graph, no memory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76656" y="2596896"/>
            <a:ext cx="18288" cy="3200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935224"/>
            <a:ext cx="457200" cy="457200"/>
          </a:xfrm>
          <a:prstGeom prst="ellipse">
            <a:avLst/>
          </a:prstGeom>
          <a:solidFill>
            <a:srgbClr val="5C67F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35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2898648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Airbyte Cloud + Render + Groq + Memgraph Cloud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3191256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real graph — but 4 paid cloud services, data left the building on every call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76656" y="3392424"/>
            <a:ext cx="18288" cy="3200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3730752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3694176"/>
            <a:ext cx="7178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Airbyte Cloud + local Postgres + LM Studio + local Memgraph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51560" y="3986784"/>
            <a:ext cx="7178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ingestion backbone, everything else pulled onto one Mac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→ v4 is not a rewrite — it's every cloud dependency swapped for a local equivalent, one at a time.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4 / 27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Fully Local — What v3 Cost Us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3291840"/>
          </a:xfrm>
          <a:prstGeom prst="roundRect">
            <a:avLst>
              <a:gd name="adj" fmla="val 1944"/>
            </a:avLst>
          </a:prstGeom>
          <a:solidFill>
            <a:srgbClr val="0D1529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435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since v3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1792" y="1783080"/>
            <a:ext cx="3703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Render.com — paid hosting, gone</a:t>
            </a:r>
            <a:endParaRPr lang="en-US" sz="93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Groq API — per-token billing, gone</a:t>
            </a:r>
            <a:endParaRPr lang="en-US" sz="93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Memgraph Cloud — managed DB fee, gone</a:t>
            </a:r>
            <a:endParaRPr lang="en-US" sz="93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Neon Postgres — managed DB fee, gone</a:t>
            </a:r>
            <a:endParaRPr lang="en-US" sz="93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ngrok — tunnel dependency, gone</a:t>
            </a:r>
            <a:endParaRPr lang="en-US" sz="93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Ollama — replaced by LM Studio</a:t>
            </a:r>
            <a:endParaRPr lang="en-US" sz="93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Slack connector — no signal, cut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4023360" cy="3291840"/>
          </a:xfrm>
          <a:prstGeom prst="roundRect">
            <a:avLst>
              <a:gd name="adj" fmla="val 1944"/>
            </a:avLst>
          </a:prstGeom>
          <a:solidFill>
            <a:srgbClr val="0D1529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28032" y="1435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buys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28032" y="1783080"/>
            <a:ext cx="3703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marginal cost per extraction — no per-token bill, ever</a:t>
            </a:r>
            <a:endParaRPr lang="en-US" sz="9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meeting content leaves the Mac after the Airbyte sync — nothing to review for a data-processing agreement</a:t>
            </a:r>
            <a:endParaRPr lang="en-US" sz="9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outage takes the pipeline down mid-demo</a:t>
            </a:r>
            <a:endParaRPr lang="en-US" sz="95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Airbyte Cloud is the one dependency kept — because it's the right tool for ingestion, not a cost center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5 / 27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Airbyte Stays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38912" cy="438912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317" y="1485717"/>
            <a:ext cx="210678" cy="2106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5331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connectors, zero code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1627632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Gmail, Calendar, and Jira are all production connectors — no auth boilerplate, no pagination logic, no schema maintenance to own.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57200" y="2167128"/>
            <a:ext cx="438912" cy="438912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317" y="2281245"/>
            <a:ext cx="210678" cy="21067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21488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+ Append+Dedup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097280" y="242316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sync moves only new data. processed_flag gives the graph builder exactly-once semantics on top of that.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57200" y="2962656"/>
            <a:ext cx="438912" cy="438912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17" y="3076773"/>
            <a:ext cx="210678" cy="21067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97280" y="2944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Webhook-driven, fully automated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97280" y="3218688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Airbyte fires a webhook on sync completion — the transform service wakes up and the graph updates with zero manual trigger.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57200" y="3758184"/>
            <a:ext cx="438912" cy="438912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317" y="3872301"/>
            <a:ext cx="210678" cy="21067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373989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Bidirectional, not just a source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1097280" y="4014216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Airbyte also reads Jira issues back in — the same sync that pulls meetings closes the loop on ticket status.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21" name="Text 15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6 / 27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.gaur/Desktop/airbyte-lm-studio-memgraph/docs/demo_assets/architecture_v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" y="73152"/>
            <a:ext cx="8924544" cy="4663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7 / 27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Services &amp; Ports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572768" cy="77724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3970">
            <a:solidFill>
              <a:srgbClr val="0EA5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:5432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34440"/>
            <a:ext cx="1572768" cy="77724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3970">
            <a:solidFill>
              <a:srgbClr val="5C6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transform_service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FastAPI :8000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77056" y="1234440"/>
            <a:ext cx="1572768" cy="77724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397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7056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Memgraph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Bolt :7687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86984" y="1234440"/>
            <a:ext cx="1572768" cy="77724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397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86984" y="1234440"/>
            <a:ext cx="1572768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 :3000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:8001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296912" y="1234440"/>
            <a:ext cx="1389888" cy="777240"/>
          </a:xfrm>
          <a:prstGeom prst="roundRect">
            <a:avLst>
              <a:gd name="adj" fmla="val 5882"/>
            </a:avLst>
          </a:prstGeom>
          <a:solidFill>
            <a:srgbClr val="1E293B"/>
          </a:solidFill>
          <a:ln w="1397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96912" y="1234440"/>
            <a:ext cx="1389888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 Studio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:1234 (host)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29968" y="1549908"/>
            <a:ext cx="137160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5" name="Shape 13"/>
          <p:cNvSpPr/>
          <p:nvPr/>
        </p:nvSpPr>
        <p:spPr>
          <a:xfrm>
            <a:off x="3739896" y="1549908"/>
            <a:ext cx="137160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6" name="Shape 14"/>
          <p:cNvSpPr/>
          <p:nvPr/>
        </p:nvSpPr>
        <p:spPr>
          <a:xfrm>
            <a:off x="5449824" y="1549908"/>
            <a:ext cx="137160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7" name="Shape 15"/>
          <p:cNvSpPr/>
          <p:nvPr/>
        </p:nvSpPr>
        <p:spPr>
          <a:xfrm>
            <a:off x="7159752" y="1549908"/>
            <a:ext cx="137160" cy="146304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084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dev_agent :8002 (own service, polls Jira via REST, opens PRs via GitHub API)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2423160"/>
            <a:ext cx="4023360" cy="2148840"/>
          </a:xfrm>
          <a:prstGeom prst="roundRect">
            <a:avLst>
              <a:gd name="adj" fmla="val 2979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514600"/>
            <a:ext cx="37490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MEMGRAPH_HOST=memgraph  MEMGRAPH_PORT=7687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LM_STUDIO_BASE_URL=http://host.docker.internal:1234/v1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LM_STUDIO_MODEL=gemma3-12b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LM_STUDIO_EMBEDDING_MODEL=text-embedding-nomic-embed-text-v1.5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POSTGRES_HOST=postgres  POSTGRES_PORT=5432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4663440" y="2423160"/>
            <a:ext cx="4023360" cy="2148840"/>
          </a:xfrm>
          <a:prstGeom prst="roundRect">
            <a:avLst>
              <a:gd name="adj" fmla="val 2979"/>
            </a:avLst>
          </a:prstGeom>
          <a:solidFill>
            <a:srgbClr val="0D1529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25420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28032" y="2834640"/>
            <a:ext cx="3657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8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Airbyte Cloud → Postgres (raw_emails, raw_calendar_events, raw_jira_issues)</a:t>
            </a:r>
            <a:endParaRPr lang="en-US" sz="88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8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polls every 5 min + POST /webhook/airbyte on sync complete</a:t>
            </a:r>
            <a:endParaRPr lang="en-US" sz="88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8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graph_builder.py: classify → extract → MERGE Cypher tx → algorithms → memory → Jira push</a:t>
            </a:r>
            <a:endParaRPr lang="en-US" sz="88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8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processed_flag column gives exactly-once semantics per row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8 / 27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Data Model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3337560"/>
          </a:xfrm>
          <a:prstGeom prst="roundRect">
            <a:avLst>
              <a:gd name="adj" fmla="val 1918"/>
            </a:avLst>
          </a:prstGeom>
          <a:solidFill>
            <a:srgbClr val="0D1529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types (11)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" y="1691640"/>
            <a:ext cx="3703320" cy="1874520"/>
          </a:xfrm>
          <a:prstGeom prst="roundRect">
            <a:avLst>
              <a:gd name="adj" fmla="val 3415"/>
            </a:avLst>
          </a:prstGeom>
          <a:solidFill>
            <a:srgbClr val="0D1529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783080"/>
            <a:ext cx="3429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Meeting {id, date, title, kind,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platform, duration_minutes,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relevance_weight, embedding[768]}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 {email, name, pagerank_score,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community_id, betweenness_centrality}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Topic, Decision, ActionItem, Organization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 {id, text, confidence, embedding}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Preference {category, value, confidence}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Procedure, ProcedureStep, MemorySession</a:t>
            </a:r>
            <a:endParaRPr lang="en-US" sz="830" dirty="0"/>
          </a:p>
        </p:txBody>
      </p:sp>
      <p:sp>
        <p:nvSpPr>
          <p:cNvPr id="8" name="Text 6"/>
          <p:cNvSpPr/>
          <p:nvPr/>
        </p:nvSpPr>
        <p:spPr>
          <a:xfrm>
            <a:off x="621792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nodes: id (uuid5, deterministic) · created_at · updated_at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1792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Constraints: UNIQUE on Meeting.id, Person.email, Topic.name,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Decision.id, ActionItem.id, Organization.domain,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Fact.id, Preference.id, Procedure.id, ProcedureStep.id,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MemorySession.id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337560"/>
          </a:xfrm>
          <a:prstGeom prst="roundRect">
            <a:avLst>
              <a:gd name="adj" fmla="val 1918"/>
            </a:avLst>
          </a:prstGeom>
          <a:solidFill>
            <a:srgbClr val="0D1529"/>
          </a:solidFill>
          <a:ln w="9525">
            <a:solidFill>
              <a:srgbClr val="5C6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1371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types (17)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28032" y="1691640"/>
            <a:ext cx="3703320" cy="1874520"/>
          </a:xfrm>
          <a:prstGeom prst="roundRect">
            <a:avLst>
              <a:gd name="adj" fmla="val 3415"/>
            </a:avLst>
          </a:prstGeom>
          <a:solidFill>
            <a:srgbClr val="0D1529"/>
          </a:solidFill>
          <a:ln w="9525">
            <a:solidFill>
              <a:srgbClr val="5C67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1783080"/>
            <a:ext cx="3429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ATTENDED {role}   DISCUSSED   PRODUCED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ASSIGNED_TO   WORKS_AT   FOLLOWS_UP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HAS_FACT   PREFERS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KNOWS {weight}   INTERESTED_IN {weight}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PRECEDED_BY {gap_days}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CAUSED_BY {confidence}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FOLLOWS_PROCEDURE {confidence}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HAS_STEP   NEXT_STEP {condition}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ACCESSED</a:t>
            </a:r>
            <a:endParaRPr lang="en-US" sz="830" dirty="0"/>
          </a:p>
        </p:txBody>
      </p:sp>
      <p:sp>
        <p:nvSpPr>
          <p:cNvPr id="14" name="Text 12"/>
          <p:cNvSpPr/>
          <p:nvPr/>
        </p:nvSpPr>
        <p:spPr>
          <a:xfrm>
            <a:off x="4828032" y="37033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Writes: MERGE only, never CREATE, for uniquely-keyed nodes.</a:t>
            </a:r>
            <a:endParaRPr lang="en-US" sz="8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writes batched in one Cypher transaction (ACID).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828032" y="416052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KNOWS is stored in one canonical direction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(lexicographic email order) — query with (a)-[:KNOWS]-(b)</a:t>
            </a:r>
            <a:endParaRPr lang="en-US" sz="780" dirty="0"/>
          </a:p>
        </p:txBody>
      </p:sp>
      <p:sp>
        <p:nvSpPr>
          <p:cNvPr id="16" name="Text 14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9 / 27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TRANSFORM_SERVICE/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Ingestion Pipeline — Real Code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28016" cy="128016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2984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classifier.py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00400" y="12984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classify(text, meta) -&gt; float — rules-based, no LLM. Threshold: score &gt;= 0.40 proceeds.</a:t>
            </a:r>
            <a:endParaRPr lang="en-US" sz="88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128016" cy="128016"/>
          </a:xfrm>
          <a:prstGeom prst="ellipse">
            <a:avLst/>
          </a:prstGeom>
          <a:solidFill>
            <a:srgbClr val="5C67F2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65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extractor.py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00400" y="186537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extract_meeting() — LM Studio JSON-mode, temperature=0.0, @with_retry(max_attempts=3, base_delay=2.0)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57200" y="2505456"/>
            <a:ext cx="128016" cy="128016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4323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graph_builder.py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00400" y="243230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process_email/process_calendar_event — single try block: classify → extract → graph → algorithms → memory → Jira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29992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memgraph_client.py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00400" y="2999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file with Cypher. upsert_meeting_graph() batches Meeting+Person+Org+Topic+Decision+ActionItem in one tx()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8229600" cy="1051560"/>
          </a:xfrm>
          <a:prstGeom prst="roundRect">
            <a:avLst>
              <a:gd name="adj" fmla="val 6087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9476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(m:Meeting {id: $id})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CREATE SET m.created_at = $now, m.relevance_weight = 1.0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m.title = $title, m.kind = $kind, m.embedding = $vec ...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Person, Org, Topic, Decision, ActionItem MERGEs follow,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all inside the same tx.run() block — commit or rollback together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10 / 27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GRAPH_ALGORITHMS.PY — ONLY FILE WITH MAGE CALL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Algorithms — Actual MAGE Calls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74920" cy="3520440"/>
          </a:xfrm>
          <a:prstGeom prst="roundRect">
            <a:avLst>
              <a:gd name="adj" fmla="val 1818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48006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pagerank.get()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YIELD node, rank SET node.pagerank_score = rank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community_detection.get()  -- fast path (Louvain)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YIELD node, community_id SET node.community_id = community_id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igraphalg.community_leiden()  -- nightly path (accurate)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YIELD node, community_id SET node.community_id = community_id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betweenness_centrality.get()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YIELD node, betweenness_centrality SET node.betweenness_centrality = ...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degree_centrality.get()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YIELD node, degree AS degree_centrality SET node.degree_centrality = ...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weakly_connected_components.get()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YIELD node, component_id SET node.wcc_id = component_id</a:t>
            </a:r>
            <a:endParaRPr lang="en-US" sz="840" dirty="0"/>
          </a:p>
        </p:txBody>
      </p:sp>
      <p:sp>
        <p:nvSpPr>
          <p:cNvPr id="6" name="Shape 4"/>
          <p:cNvSpPr/>
          <p:nvPr/>
        </p:nvSpPr>
        <p:spPr>
          <a:xfrm>
            <a:off x="5669280" y="1280160"/>
            <a:ext cx="3017520" cy="3520440"/>
          </a:xfrm>
          <a:prstGeom prst="roundRect">
            <a:avLst>
              <a:gd name="adj" fmla="val 2121"/>
            </a:avLst>
          </a:prstGeom>
          <a:solidFill>
            <a:srgbClr val="0D1529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33872" y="13898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points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833872" y="1719072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4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 — after every processed meeting, in graph_builder.py's try block</a:t>
            </a:r>
            <a:endParaRPr lang="en-US" sz="84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4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 — nightly cron, 02:00, via APScheduler in main.py lifespan</a:t>
            </a:r>
            <a:endParaRPr lang="en-US" sz="84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4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wrapped in its own try/except — one algorithm failing never aborts the others</a:t>
            </a:r>
            <a:endParaRPr lang="en-US" sz="84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4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result.consume() called explicitly — the async driver defers execution otherwise, misattributing errors to the next statement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11 / 27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 — REAL OUTPUT, THIS SESSION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Algorithms — Live Results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3474720"/>
          </a:xfrm>
          <a:prstGeom prst="roundRect">
            <a:avLst>
              <a:gd name="adj" fmla="val 1842"/>
            </a:avLst>
          </a:prstGeom>
          <a:solidFill>
            <a:srgbClr val="0D1529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leaderboard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703320" cy="1828800"/>
          </a:xfrm>
          <a:prstGeom prst="roundRect">
            <a:avLst>
              <a:gd name="adj" fmla="val 3500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10512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            pagerank  community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Femi Oduwole      0.0047    11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Matteo Vaiente    0.0045    4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Matteo            0.0045    4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Femi Oduwole      0.0037    4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 Johnston     0.0037    4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Phil Loranger     0.0037    4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Jacob Barka       0.0037    11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621792" y="36576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(p:Person) WHERE p.pagerank_score IS NOT NULL</a:t>
            </a:r>
            <a:endParaRPr lang="en-US" sz="760" dirty="0"/>
          </a:p>
          <a:p>
            <a:pPr indent="0" marL="0">
              <a:buNone/>
            </a:pPr>
            <a:r>
              <a:rPr lang="en-US" sz="76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p.name, p.pagerank_score ORDER BY ... DESC</a:t>
            </a:r>
            <a:endParaRPr lang="en-US" sz="760" dirty="0"/>
          </a:p>
        </p:txBody>
      </p:sp>
      <p:sp>
        <p:nvSpPr>
          <p:cNvPr id="9" name="Text 7"/>
          <p:cNvSpPr/>
          <p:nvPr/>
        </p:nvSpPr>
        <p:spPr>
          <a:xfrm>
            <a:off x="621792" y="416052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Femi Oduwole appears twice — same person, two attendee records from different meetings, not deduplicated on name. Real data, real rough edge.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474720"/>
          </a:xfrm>
          <a:prstGeom prst="roundRect">
            <a:avLst>
              <a:gd name="adj" fmla="val 1842"/>
            </a:avLst>
          </a:prstGeom>
          <a:solidFill>
            <a:srgbClr val="0D1529"/>
          </a:solidFill>
          <a:ln w="9525">
            <a:solidFill>
              <a:srgbClr val="5C67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detection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28032" y="1719072"/>
            <a:ext cx="3703320" cy="1600200"/>
          </a:xfrm>
          <a:prstGeom prst="roundRect">
            <a:avLst>
              <a:gd name="adj" fmla="val 4000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1810512"/>
            <a:ext cx="3429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community  members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5          42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4          22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11         17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-1         11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9          9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6          6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4828032" y="34290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clusters, not one blob or all-singletons — Louvain found actual structure in 74 real meetings.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828032" y="39319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ran live in this session via graph_algorithms.run_fast_algorithms() — the exact function graph_builder.py calls after every real meeting.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12 / 27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SEMANTIC_MEMORY.PY · EPISODIC_MEMORY.PY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— The Actual Formulas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3474720"/>
          </a:xfrm>
          <a:prstGeom prst="roundRect">
            <a:avLst>
              <a:gd name="adj" fmla="val 1842"/>
            </a:avLst>
          </a:prstGeom>
          <a:solidFill>
            <a:srgbClr val="0D1529"/>
          </a:solidFill>
          <a:ln w="9525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confidence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703320" cy="1600200"/>
          </a:xfrm>
          <a:prstGeom prst="roundRect">
            <a:avLst>
              <a:gd name="adj" fmla="val 4000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10512"/>
            <a:ext cx="3429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CREATE  f.confidence = 0.3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MATCH   f.confidence = min(1.0,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f.confidence + 0.1)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nightly consolidation: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f.source_count % 3 = 0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 f.confidence = min(1.0,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f.confidence + 0.2)</a:t>
            </a:r>
            <a:endParaRPr lang="en-US" sz="840" dirty="0"/>
          </a:p>
        </p:txBody>
      </p:sp>
      <p:sp>
        <p:nvSpPr>
          <p:cNvPr id="8" name="Text 6"/>
          <p:cNvSpPr/>
          <p:nvPr/>
        </p:nvSpPr>
        <p:spPr>
          <a:xfrm>
            <a:off x="621792" y="34290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/ INTERESTED_IN: ON MATCH SET weight = weight + 1, pure Cypher, no LLM call</a:t>
            </a:r>
            <a:endParaRPr lang="en-US" sz="830" dirty="0"/>
          </a:p>
        </p:txBody>
      </p:sp>
      <p:sp>
        <p:nvSpPr>
          <p:cNvPr id="9" name="Text 7"/>
          <p:cNvSpPr/>
          <p:nvPr/>
        </p:nvSpPr>
        <p:spPr>
          <a:xfrm>
            <a:off x="621792" y="3950208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Preference: starts 0.5, same +0.1 reconfirm rule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474720"/>
          </a:xfrm>
          <a:prstGeom prst="roundRect">
            <a:avLst>
              <a:gd name="adj" fmla="val 1842"/>
            </a:avLst>
          </a:prstGeom>
          <a:solidFill>
            <a:srgbClr val="0D1529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28032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decay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28032" y="1719072"/>
            <a:ext cx="3703320" cy="1600200"/>
          </a:xfrm>
          <a:prstGeom prst="roundRect">
            <a:avLst>
              <a:gd name="adj" fmla="val 4000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1810512"/>
            <a:ext cx="3429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nightly, decay_relevance():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 m.relevance_weight = CASE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relevance_weight IS NULL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1.0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WHEN relevance_weight &lt;= 0.1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0.1  -- floor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relevance_weight * 0.95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4828032" y="342900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PRECEDED_BY.gap_days = (date($meeting_date) - date(prior.date)).day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(Memgraph has no duration.inDays — use date subtraction)</a:t>
            </a:r>
            <a:endParaRPr lang="en-US" sz="830" dirty="0"/>
          </a:p>
        </p:txBody>
      </p:sp>
      <p:sp>
        <p:nvSpPr>
          <p:cNvPr id="15" name="Text 13"/>
          <p:cNvSpPr/>
          <p:nvPr/>
        </p:nvSpPr>
        <p:spPr>
          <a:xfrm>
            <a:off x="4828032" y="3977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CAUSED_BY: only when follow_up_needed=true, capped at 1 link/meeting, &gt;50% word overlap required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13 / 27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VECTOR_MEMORY.PY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 Search — Real Cypher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434840" cy="3520440"/>
          </a:xfrm>
          <a:prstGeom prst="roundRect">
            <a:avLst>
              <a:gd name="adj" fmla="val 1818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41605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VECTOR INDEX meeting_embedding_idx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 :Meeting(embedding)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CONFIG {"dimension": 768,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"capacity": 2048,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"metric": "cos"}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vector_search.search(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$index_name, $limit, $query_vector)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YIELD node, similarity, distance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node.id, similarity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similarity DESC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5074920" y="1280160"/>
            <a:ext cx="3611880" cy="3520440"/>
          </a:xfrm>
          <a:prstGeom prst="roundRect">
            <a:avLst>
              <a:gd name="adj" fmla="val 1818"/>
            </a:avLst>
          </a:prstGeom>
          <a:solidFill>
            <a:srgbClr val="0D1529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39512" y="13898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239512" y="1719072"/>
            <a:ext cx="3291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embed_text() → LM Studio /v1/embeddings, text-embedding-nomic-embed-text-v1.5, 768-dim</a:t>
            </a:r>
            <a:endParaRPr lang="en-US" sz="86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embed_meeting() writes Meeting.embedding on ingestion</a:t>
            </a:r>
            <a:endParaRPr lang="en-US" sz="86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embed_facts_for_meeting() embeds only Facts missing embeddings — idempotent</a:t>
            </a:r>
            <a:endParaRPr lang="en-US" sz="86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graph_algorithms.vector_search() is the only place CALL vector_search.* appears</a:t>
            </a:r>
            <a:endParaRPr lang="en-US" sz="860" dirty="0"/>
          </a:p>
          <a:p>
            <a:pPr marL="342900" indent="-342900">
              <a:lnSpc>
                <a:spcPct val="132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backfill_embeddings() — one-off, for pre-existing data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14 / 27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DEV_AGENT/ — SEPARATE DOCKER SERVICE, :8002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 Agent — State Machine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463040" cy="9601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397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447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12064" y="17373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 != ''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skip label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938528" y="1783080"/>
            <a:ext cx="100584" cy="12801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1371600"/>
            <a:ext cx="1463040" cy="9601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3970">
            <a:solidFill>
              <a:srgbClr val="0EA5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57400" y="14447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112264" y="17373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autonomous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538728" y="1783080"/>
            <a:ext cx="100584" cy="12801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2" name="Shape 10"/>
          <p:cNvSpPr/>
          <p:nvPr/>
        </p:nvSpPr>
        <p:spPr>
          <a:xfrm>
            <a:off x="3657600" y="1371600"/>
            <a:ext cx="1463040" cy="9601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3970">
            <a:solidFill>
              <a:srgbClr val="5C67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4447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712464" y="17373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worktree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agent/&lt;KEY&gt;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138928" y="1783080"/>
            <a:ext cx="100584" cy="12801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71600"/>
            <a:ext cx="1463040" cy="9601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397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7800" y="14447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312664" y="17373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opened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verified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6739128" y="1783080"/>
            <a:ext cx="100584" cy="12801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8"/>
          <p:cNvSpPr/>
          <p:nvPr/>
        </p:nvSpPr>
        <p:spPr>
          <a:xfrm>
            <a:off x="6858000" y="1371600"/>
            <a:ext cx="1463040" cy="960120"/>
          </a:xfrm>
          <a:prstGeom prst="roundRect">
            <a:avLst>
              <a:gd name="adj" fmla="val 4762"/>
            </a:avLst>
          </a:prstGeom>
          <a:solidFill>
            <a:srgbClr val="1E293B"/>
          </a:solidFill>
          <a:ln w="1397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4447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MERGED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12864" y="173736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human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57200" y="251460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260604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ANTHROPIC_API_KEY=""           # LM Studio only, never api.anthropic.com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LM_STUDIO_ANTHROPIC_URL=http://host.docker.internal:1234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DEV_AGENT_MAX_ATTEMPTS=1       DEV_AGENT_MAX_TURNS=40</a:t>
            </a:r>
            <a:endParaRPr lang="en-US" sz="8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3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DEV_AGENT_TIMEOUT_SECONDS=1800 DEV_AGENT_POLL_MINUTES=10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087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3730752"/>
            <a:ext cx="7909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verification is independent — GitHub API confirms the PR exists, never trusts the agent's own claim</a:t>
            </a:r>
            <a:endParaRPr lang="en-US" sz="86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Failure path: ticket returns to TO DO (not stuck in IN PROGRESS), Jira comment posted, dev_agent_runs.status='failed'</a:t>
            </a:r>
            <a:endParaRPr lang="en-US" sz="86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Auto-merge deliberately NOT implemented — human review is the one remaining checkpoint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15 / 27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DEV_AGENT DOESN'T COVER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 Agent — What It Solves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dev_agent only works engineering tickets — real code changes, a real PR. Every meeting also produces action items that aren't code: "follow up with Matteo", "share the webhook docs", "review the budget adjustments"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got pushed to Jira by jira_pusher.py, labeled meeting-action-item, and then — nothing. dev_agent correctly skips them. Nobody else was working them.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action_agent.py closes that gap: it picks up exactly the tickets dev_agent is designed to ignore, drafts the real deliverable grounded in graph context, and hands it to a human to approve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333756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0D1529"/>
          </a:solidFill>
          <a:ln w="9525">
            <a:solidFill>
              <a:srgbClr val="5C67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345643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zero overlap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" y="3749040"/>
            <a:ext cx="7909560" cy="685800"/>
          </a:xfrm>
          <a:prstGeom prst="roundRect">
            <a:avLst>
              <a:gd name="adj" fmla="val 9333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384048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dev_agent        engineering tickets   -&gt; git worktree, PR, IN REVIEW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action_agent     everything else       -&gt; drafted comment, IN REVIEW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16 / 27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TRANSFORM_SERVICE/ACTION_AGENT.PY — THE ONLY FILE USING AIRBYTE-AGENT-SDK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 Agent — Pipeline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 w="13970">
            <a:solidFill>
              <a:srgbClr val="5C6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755648"/>
            <a:ext cx="12070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Do +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meeting-action-item</a:t>
            </a:r>
            <a:endParaRPr lang="en-US" sz="720" dirty="0"/>
          </a:p>
        </p:txBody>
      </p:sp>
      <p:sp>
        <p:nvSpPr>
          <p:cNvPr id="7" name="Shape 5"/>
          <p:cNvSpPr/>
          <p:nvPr/>
        </p:nvSpPr>
        <p:spPr>
          <a:xfrm>
            <a:off x="1764792" y="1810512"/>
            <a:ext cx="91440" cy="12801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8" name="Shape 6"/>
          <p:cNvSpPr/>
          <p:nvPr/>
        </p:nvSpPr>
        <p:spPr>
          <a:xfrm>
            <a:off x="1856232" y="137160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 w="13970">
            <a:solidFill>
              <a:srgbClr val="5C67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56232" y="146304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901952" y="1755648"/>
            <a:ext cx="12070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 comment?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skip to transition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3163824" y="1810512"/>
            <a:ext cx="91440" cy="12801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55264" y="137160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 w="13970">
            <a:solidFill>
              <a:srgbClr val="5C67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55264" y="146304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00984" y="1755648"/>
            <a:ext cx="12070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memory_retrieval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.full_memory_query()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4562856" y="1810512"/>
            <a:ext cx="91440" cy="12801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37160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 w="13970">
            <a:solidFill>
              <a:srgbClr val="5C67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54296" y="146304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00016" y="1755648"/>
            <a:ext cx="12070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 Studio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(local, temp=0.0)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5961888" y="1810512"/>
            <a:ext cx="91440" cy="12801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0" name="Shape 18"/>
          <p:cNvSpPr/>
          <p:nvPr/>
        </p:nvSpPr>
        <p:spPr>
          <a:xfrm>
            <a:off x="6053328" y="137160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 w="13970">
            <a:solidFill>
              <a:srgbClr val="5C67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53328" y="146304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99048" y="1755648"/>
            <a:ext cx="12070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post_draft()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ADF + marker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7360920" y="1810512"/>
            <a:ext cx="91440" cy="12801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2360" y="137160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1E293B"/>
          </a:solidFill>
          <a:ln w="13970">
            <a:solidFill>
              <a:srgbClr val="5C67F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52360" y="146304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98080" y="1755648"/>
            <a:ext cx="12070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Do -&gt;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Review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457200" y="260604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0D1529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" y="2706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Airbyte Agents SDK is a tool layer, not a hosted brain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1792" y="29626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BYO-LLM by design — the SDK gives typed Jira operations (search, comment, transition); LM Studio does 100% of the reasoning. No exception to the no-cloud-LLM rule.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" y="3822192"/>
            <a:ext cx="7909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Idempotency: ACTION_AGENT_MARKER in the comment body gates retries — a partial failure (comment posted, transition didn't) re-enters at TRANSITION, never double-drafts</a:t>
            </a:r>
            <a:endParaRPr lang="en-US" sz="86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86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AIRBYTE_AGENTS_CLIENT_ID/SECRET are deliberately separate from AIRBYTE_CLIENT_ID/SECRET (Airbyte Cloud ELT) — different product, credentials never conflated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17 / 27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TASK-LEVEL REVIEW APPROVED EVERY TASK. LIVE TESTING DIDN'T LIE.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With Rigor, Not Just Built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35024"/>
            <a:ext cx="137160" cy="13716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4358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tasks, 6 reviews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" y="1499616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passed spec + quality review against mocked tests</a:t>
            </a:r>
            <a:endParaRPr lang="en-US" sz="88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137160" cy="13716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4708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run: instant failure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'Issue' object has no attribute 'get' — first real Jira call, first try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57200" y="2542032"/>
            <a:ext cx="137160" cy="1371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45059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found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2706624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SDK returns typed Pydantic models. Dicts AND MagicMock both silently support .get() — every mock hid the exact mismatch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57200" y="3145536"/>
            <a:ext cx="137160" cy="1371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05409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 rebuilt, fixed for real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310128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now construct real SDK model instances. 126/126 green, then a live run against the real board succeeded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913632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AttributeError: 'Issue' object has no attribute 'get'</a:t>
            </a:r>
            <a:endParaRPr lang="en-US" sz="7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find_eligible_tickets: rec.get("fields")   -&gt; rec.fields</a:t>
            </a:r>
            <a:endParaRPr lang="en-US" sz="7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has_agent_draft:      comment.get("body")  -&gt; getattr(comment, "body", None)</a:t>
            </a:r>
            <a:endParaRPr lang="en-US" sz="7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6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transition_to_review: t.get("to")          -&gt; getattr(t, "to", None)</a:t>
            </a:r>
            <a:endParaRPr lang="en-US" sz="760" dirty="0"/>
          </a:p>
        </p:txBody>
      </p:sp>
      <p:sp>
        <p:nvSpPr>
          <p:cNvPr id="18" name="Text 16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18 / 27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TICKET, REAL BOARD — SHUBHAMGAUR1.ATLASSIAN.NET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Proof — Jira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709160" cy="342900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/Users/shubham.gaur/Desktop/airbyte-lm-studio-memgraph/docs/demo_assets/jira_scrum47_action_age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16736"/>
            <a:ext cx="4526280" cy="3264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49240" y="1234440"/>
            <a:ext cx="3337560" cy="1691640"/>
          </a:xfrm>
          <a:prstGeom prst="roundRect">
            <a:avLst>
              <a:gd name="adj" fmla="val 3784"/>
            </a:avLst>
          </a:prstGeom>
          <a:solidFill>
            <a:srgbClr val="0D1529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513832" y="134416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SCRUM-47 — before -&gt; after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513832" y="1627632"/>
            <a:ext cx="3017520" cy="1188720"/>
          </a:xfrm>
          <a:prstGeom prst="roundRect">
            <a:avLst>
              <a:gd name="adj" fmla="val 5385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50992" y="1719072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Do  -&gt;  In Review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labels: meeting-action-item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 comment: [action-agent draft]</a:t>
            </a:r>
            <a:endParaRPr lang="en-US" sz="840" dirty="0"/>
          </a:p>
        </p:txBody>
      </p:sp>
      <p:sp>
        <p:nvSpPr>
          <p:cNvPr id="10" name="Shape 7"/>
          <p:cNvSpPr/>
          <p:nvPr/>
        </p:nvSpPr>
        <p:spPr>
          <a:xfrm>
            <a:off x="5349240" y="3035808"/>
            <a:ext cx="3337560" cy="1627632"/>
          </a:xfrm>
          <a:prstGeom prst="roundRect">
            <a:avLst>
              <a:gd name="adj" fmla="val 3933"/>
            </a:avLst>
          </a:prstGeom>
          <a:solidFill>
            <a:srgbClr val="0D1529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513832" y="314553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agent actually wrote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513832" y="3419856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6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“Reach out to Sarah Chen and David Lee who expressed interest in advanced features during the workshop on 2024-04-14.”</a:t>
            </a:r>
            <a:endParaRPr lang="en-US" sz="860" dirty="0"/>
          </a:p>
        </p:txBody>
      </p:sp>
      <p:sp>
        <p:nvSpPr>
          <p:cNvPr id="13" name="Text 10"/>
          <p:cNvSpPr/>
          <p:nvPr/>
        </p:nvSpPr>
        <p:spPr>
          <a:xfrm>
            <a:off x="5513832" y="43159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names, real date — from 2 graph nodes consulted, not generic filler</a:t>
            </a:r>
            <a:endParaRPr lang="en-US" sz="760" dirty="0"/>
          </a:p>
        </p:txBody>
      </p:sp>
      <p:sp>
        <p:nvSpPr>
          <p:cNvPr id="14" name="Text 11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19 / 27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APP.AIRBYTE.AI — ORG ONIX, TOOL CALLS (NOT SESSIONS)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Proof — Airbyte Agents Dashboard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120640" cy="3429000"/>
          </a:xfrm>
          <a:prstGeom prst="roundRect">
            <a:avLst>
              <a:gd name="adj" fmla="val 18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/Users/shubham.gaur/Desktop/airbyte-lm-studio-memgraph/docs/demo_assets/airbyte_agents_tool_call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16736"/>
            <a:ext cx="4937760" cy="3264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60720" y="1234440"/>
            <a:ext cx="2926080" cy="3429000"/>
          </a:xfrm>
          <a:prstGeom prst="roundRect">
            <a:avLst>
              <a:gd name="adj" fmla="val 2188"/>
            </a:avLst>
          </a:prstGeom>
          <a:solidFill>
            <a:srgbClr val="0D1529"/>
          </a:solidFill>
          <a:ln w="9525">
            <a:solidFill>
              <a:srgbClr val="5C67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25312" y="134416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SDK call, logged by Airbyte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925312" y="182880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62472" y="192024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issues / api_search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issue_comments / list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issue_comments / create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issue_transitions / list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issue_transitions / create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925312" y="3337560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“Sessions” tracks Airbyte's own web-chat UI — a different feature. “Tool Calls” is what our SDK code triggers, and it's exactly what we wanted to see.</a:t>
            </a:r>
            <a:endParaRPr lang="en-US" sz="820" dirty="0"/>
          </a:p>
        </p:txBody>
      </p:sp>
      <p:sp>
        <p:nvSpPr>
          <p:cNvPr id="11" name="Text 8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20 / 27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JIRA_PUSHER.PY · JIRA_AGENT.PY · ACTION_AGENT.PY · MCP SERVERS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Bidirectional Jira, One-Turn Agent Access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3246120"/>
          </a:xfrm>
          <a:prstGeom prst="roundRect">
            <a:avLst>
              <a:gd name="adj" fmla="val 1972"/>
            </a:avLst>
          </a:prstGeom>
          <a:solidFill>
            <a:srgbClr val="0D1529"/>
          </a:solidFill>
          <a:ln w="9525">
            <a:solidFill>
              <a:srgbClr val="5C67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3898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loop — three components now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" y="1719072"/>
            <a:ext cx="3703320" cy="1371600"/>
          </a:xfrm>
          <a:prstGeom prst="roundRect">
            <a:avLst>
              <a:gd name="adj" fmla="val 4667"/>
            </a:avLst>
          </a:prstGeom>
          <a:solidFill>
            <a:srgbClr val="0D1529"/>
          </a:solidFill>
          <a:ln w="9525">
            <a:solidFill>
              <a:srgbClr val="5C67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810512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jira_pusher.py    ActionItem -&gt; Jira issue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Airbyte Jira src  -&gt; raw_jira_issues (Postgres)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jira_agent.py     issue -&gt; ActionItem.jira_status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action_agent.py   drafts + resolves the rest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621792" y="320040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Jira REST calls live in jira_client.py — no exceptions. action_agent.py is the only one using the Airbyte Agent SDK instead.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4023360" cy="3246120"/>
          </a:xfrm>
          <a:prstGeom prst="roundRect">
            <a:avLst>
              <a:gd name="adj" fmla="val 1972"/>
            </a:avLst>
          </a:prstGeom>
          <a:solidFill>
            <a:srgbClr val="0D1529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8032" y="13898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surface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28032" y="1719072"/>
            <a:ext cx="3703320" cy="2194560"/>
          </a:xfrm>
          <a:prstGeom prst="roundRect">
            <a:avLst>
              <a:gd name="adj" fmla="val 2917"/>
            </a:avLst>
          </a:prstGeom>
          <a:solidFill>
            <a:srgbClr val="0D1529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65192" y="1810512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memgraph MCP  (MCP_READ_ONLY=false)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run_query, get_schema,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get_node_neighborhood,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search_node_vectors, get_page_rank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jira MCP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jira_get, jira_post,</a:t>
            </a:r>
            <a:endParaRPr lang="en-US" sz="8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jira_put, jira_patch, jira_delete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4828032" y="397764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conversation, both MCPs — Claude Desktop hits Memgraph + Jira in the same turn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21 / 27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— ENFORCED BY CONVENTION, NOT A LINTER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Boundaries &amp; Absolute Rules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3474720"/>
          </a:xfrm>
          <a:prstGeom prst="roundRect">
            <a:avLst>
              <a:gd name="adj" fmla="val 1842"/>
            </a:avLst>
          </a:prstGeom>
          <a:solidFill>
            <a:srgbClr val="0D1529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graph_algorithms.py is the ONLY file with MAGE CALL procedures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memgraph_client.py is the ONLY file with Cypher (plus the memory modules for their own node types)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db.py is the ONLY file with SQL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jira_client.py is the ONLY file with Jira REST calls (dev_agent and transform_service both use it)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action_agent.py is the ONLY file using airbyte-agent-sdk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action_agent.py must NEVER be called from graph_builder.py — memory_retrieval is query-time only</a:t>
            </a:r>
            <a:endParaRPr lang="en-US" sz="920" dirty="0"/>
          </a:p>
        </p:txBody>
      </p:sp>
      <p:sp>
        <p:nvSpPr>
          <p:cNvPr id="6" name="Shape 4"/>
          <p:cNvSpPr/>
          <p:nvPr/>
        </p:nvSpPr>
        <p:spPr>
          <a:xfrm>
            <a:off x="4709160" y="1280160"/>
            <a:ext cx="4023360" cy="3474720"/>
          </a:xfrm>
          <a:prstGeom prst="roundRect">
            <a:avLst>
              <a:gd name="adj" fmla="val 1842"/>
            </a:avLst>
          </a:prstGeom>
          <a:solidFill>
            <a:srgbClr val="0D1529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92040" y="1463040"/>
            <a:ext cx="3657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Cypher writes: MERGE, never CREATE, for uniquely-keyed nodes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Multi-node writes: single Cypher transaction, never sequential driver calls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httpx.AsyncClient only — never synchronous requests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@with_retry(max_attempts=3, base_delay=2.0) on all external calls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dev_agent never defaults is_engineering_task to True when missing — fail safe</a:t>
            </a:r>
            <a:endParaRPr lang="en-US" sz="92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92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Auto-merge is not implemented — do not add it without explicit go-ahead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22 / 27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OPERABILITY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Ops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3474720"/>
          </a:xfrm>
          <a:prstGeom prst="roundRect">
            <a:avLst>
              <a:gd name="adj" fmla="val 1842"/>
            </a:avLst>
          </a:prstGeom>
          <a:solidFill>
            <a:srgbClr val="0D1529"/>
          </a:solidFill>
          <a:ln w="9525">
            <a:solidFill>
              <a:srgbClr val="5C6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417320"/>
            <a:ext cx="384048" cy="384048"/>
          </a:xfrm>
          <a:prstGeom prst="ellipse">
            <a:avLst/>
          </a:prstGeom>
          <a:solidFill>
            <a:srgbClr val="5C67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644" y="1517172"/>
            <a:ext cx="184343" cy="184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15568" y="14813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21792" y="1874520"/>
            <a:ext cx="3703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automated tests across 12 files, one per build phase (phase14 → phase27)</a:t>
            </a:r>
            <a:endParaRPr lang="en-US" sz="9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pytest-anyio, mocked Memgraph driver and LM Studio client — no live services needed to run the suite</a:t>
            </a:r>
            <a:endParaRPr lang="en-US" sz="9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memory/algorithm module shipped with its own test file the same session it was written</a:t>
            </a:r>
            <a:endParaRPr lang="en-US" sz="9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runs the full suite inside the transform_service container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663440" y="1280160"/>
            <a:ext cx="4023360" cy="3474720"/>
          </a:xfrm>
          <a:prstGeom prst="roundRect">
            <a:avLst>
              <a:gd name="adj" fmla="val 1842"/>
            </a:avLst>
          </a:prstGeom>
          <a:solidFill>
            <a:srgbClr val="0D1529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28032" y="1417320"/>
            <a:ext cx="384048" cy="384048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884" y="1517172"/>
            <a:ext cx="184343" cy="184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21808" y="14813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surface (Makefile)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828032" y="1874520"/>
            <a:ext cx="3703320" cy="2743200"/>
          </a:xfrm>
          <a:prstGeom prst="roundRect">
            <a:avLst>
              <a:gd name="adj" fmla="val 2333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965192" y="1965960"/>
            <a:ext cx="3429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up / down / logs / shell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        # full pytest suite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setup-memgraph  # idempotent schema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trigger       # fire pipeline manually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backfill      # reprocess raw rows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health        # 3-service status check</a:t>
            </a:r>
            <a:endParaRPr lang="en-US" sz="84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4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dev-agent-trigger / -triage / -runs</a:t>
            </a:r>
            <a:endParaRPr lang="en-US" sz="840" dirty="0"/>
          </a:p>
        </p:txBody>
      </p:sp>
      <p:sp>
        <p:nvSpPr>
          <p:cNvPr id="15" name="Text 11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23 / 27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MOCKUP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the Live Graph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97764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/Users/shubham.gaur/Desktop/airbyte-lm-studio-memgraph/docs/demo_assets/memgraph_02_discussed_knowledge_graph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16736"/>
            <a:ext cx="3794760" cy="3127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553712"/>
            <a:ext cx="3977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(m:Meeting)-[r:DISCUSSED]-&gt;(t:Topic) RETURN m, r, t — 162 edges</a:t>
            </a:r>
            <a:endParaRPr lang="en-US" sz="720" dirty="0"/>
          </a:p>
        </p:txBody>
      </p:sp>
      <p:sp>
        <p:nvSpPr>
          <p:cNvPr id="7" name="Shape 4"/>
          <p:cNvSpPr/>
          <p:nvPr/>
        </p:nvSpPr>
        <p:spPr>
          <a:xfrm>
            <a:off x="4617720" y="1234440"/>
            <a:ext cx="4069080" cy="1508760"/>
          </a:xfrm>
          <a:prstGeom prst="roundRect">
            <a:avLst>
              <a:gd name="adj" fmla="val 4242"/>
            </a:avLst>
          </a:prstGeom>
          <a:solidFill>
            <a:srgbClr val="0D1529"/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82312" y="13533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"Who is responsible for testing automation?"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537960" y="1874520"/>
            <a:ext cx="292608" cy="164592"/>
          </a:xfrm>
          <a:prstGeom prst="downArrow">
            <a:avLst/>
          </a:prstGeom>
          <a:solidFill>
            <a:srgbClr val="10B981"/>
          </a:solidFill>
          <a:ln/>
        </p:spPr>
      </p:sp>
      <p:sp>
        <p:nvSpPr>
          <p:cNvPr id="10" name="Text 7"/>
          <p:cNvSpPr/>
          <p:nvPr/>
        </p:nvSpPr>
        <p:spPr>
          <a:xfrm>
            <a:off x="4782312" y="210312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"Femi leads the QA automation initiative"
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3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similarity = 0.649, cosine metric, zero keyword overlap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17720" y="2880360"/>
            <a:ext cx="4069080" cy="1645920"/>
          </a:xfrm>
          <a:prstGeom prst="roundRect">
            <a:avLst>
              <a:gd name="adj" fmla="val 3889"/>
            </a:avLst>
          </a:prstGeom>
          <a:solidFill>
            <a:srgbClr val="0D1529"/>
          </a:solidFill>
          <a:ln w="9525">
            <a:solidFill>
              <a:srgbClr val="0EA5E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82312" y="29809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numbers, this session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782312" y="3273552"/>
            <a:ext cx="3749040" cy="1188720"/>
          </a:xfrm>
          <a:prstGeom prst="roundRect">
            <a:avLst>
              <a:gd name="adj" fmla="val 5385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19472" y="3364992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126/126 tests passing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266 edges, 13 relationship types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 meetings · 43 topics · 7 people</a:t>
            </a:r>
            <a:endParaRPr lang="en-US" sz="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 index size: 74 + 5 (Meeting+Fact)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24 / 27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STATUS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Working Right Now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011680" cy="1097280"/>
          </a:xfrm>
          <a:prstGeom prst="roundRect">
            <a:avLst>
              <a:gd name="adj" fmla="val 5833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350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8653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587752" y="1280160"/>
            <a:ext cx="2011680" cy="1097280"/>
          </a:xfrm>
          <a:prstGeom prst="roundRect">
            <a:avLst>
              <a:gd name="adj" fmla="val 5833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87752" y="13350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679192" y="18653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18304" y="1280160"/>
            <a:ext cx="2011680" cy="1097280"/>
          </a:xfrm>
          <a:prstGeom prst="roundRect">
            <a:avLst>
              <a:gd name="adj" fmla="val 5833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3350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266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809744" y="18653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848856" y="1280160"/>
            <a:ext cx="2011680" cy="1097280"/>
          </a:xfrm>
          <a:prstGeom prst="roundRect">
            <a:avLst>
              <a:gd name="adj" fmla="val 5833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48856" y="13350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768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940296" y="18653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dims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8229600" cy="1188720"/>
          </a:xfrm>
          <a:prstGeom prst="roundRect">
            <a:avLst>
              <a:gd name="adj" fmla="val 5385"/>
            </a:avLst>
          </a:prstGeom>
          <a:solidFill>
            <a:srgbClr val="0D1529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/graph/insights/influential | /communities | /bridges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/graph/search/meetings?q=  |  /graph/search/facts?q=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/graph/memory/query  {"question": str}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/graph/memory/person/{email}  |  /graph/procedures</a:t>
            </a:r>
            <a:endParaRPr lang="en-US" sz="8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6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/webhook/airbyte  —  triggers full pipeline end to end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457200" y="3913632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1E3A5F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9136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 —  that's the entire deployment.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25 / 27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Demonstrates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20624" cy="420624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562" y="1435242"/>
            <a:ext cx="201900" cy="2019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30759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cost story, not just a tech demo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78992" y="157276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cloud services removed since v3 — zero marginal cost per meeting processed</a:t>
            </a:r>
            <a:endParaRPr lang="en-US" sz="930" dirty="0"/>
          </a:p>
        </p:txBody>
      </p:sp>
      <p:sp>
        <p:nvSpPr>
          <p:cNvPr id="8" name="Shape 5"/>
          <p:cNvSpPr/>
          <p:nvPr/>
        </p:nvSpPr>
        <p:spPr>
          <a:xfrm>
            <a:off x="457200" y="2057400"/>
            <a:ext cx="420624" cy="420624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62" y="216676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78992" y="203911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Airbyte as the backbone — twice over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078992" y="230428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Airbyte Cloud does the ELT; Airbyte Agents gives action_agent its Jira tool layer. Two real products, both kept on purpose</a:t>
            </a:r>
            <a:endParaRPr lang="en-US" sz="930" dirty="0"/>
          </a:p>
        </p:txBody>
      </p:sp>
      <p:sp>
        <p:nvSpPr>
          <p:cNvPr id="12" name="Shape 8"/>
          <p:cNvSpPr/>
          <p:nvPr/>
        </p:nvSpPr>
        <p:spPr>
          <a:xfrm>
            <a:off x="457200" y="2788920"/>
            <a:ext cx="420624" cy="420624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62" y="289828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77063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Graph-native, self-aware memory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78992" y="303580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storage — the graph ranks, remembers, decays, and reasons about itself</a:t>
            </a:r>
            <a:endParaRPr lang="en-US" sz="930" dirty="0"/>
          </a:p>
        </p:txBody>
      </p:sp>
      <p:sp>
        <p:nvSpPr>
          <p:cNvPr id="16" name="Shape 11"/>
          <p:cNvSpPr/>
          <p:nvPr/>
        </p:nvSpPr>
        <p:spPr>
          <a:xfrm>
            <a:off x="457200" y="3520440"/>
            <a:ext cx="420624" cy="420624"/>
          </a:xfrm>
          <a:prstGeom prst="ellipse">
            <a:avLst/>
          </a:prstGeom>
          <a:solidFill>
            <a:srgbClr val="1E3A5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562" y="362980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78992" y="350215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autonomous systems, one philosophy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1078992" y="3767328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dev_agent (code), action_agent (everything else), memory_retrieval (Q&amp;A) — all autonomous up to a human checkpoint, never past it</a:t>
            </a:r>
            <a:endParaRPr lang="en-US" sz="930" dirty="0"/>
          </a:p>
        </p:txBody>
      </p:sp>
      <p:sp>
        <p:nvSpPr>
          <p:cNvPr id="20" name="Text 14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21" name="Text 15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26 / 27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CAN GO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Extend, Not Just to Demo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Airbyte sources plug into the same classify → extract → graph flow with no architecture change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graph_algorithms.py, memory modules, and vector search are all additive layers on the same node/edge schema — nothing upstream was rewritten to add them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surface means any future agent gets read+write graph access on day one, not as a follow-up integration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8229600" cy="1051560"/>
          </a:xfrm>
          <a:prstGeom prst="roundRect">
            <a:avLst>
              <a:gd name="adj" fmla="val 6087"/>
            </a:avLst>
          </a:prstGeom>
          <a:solidFill>
            <a:srgbClr val="1E3A5F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 —  that's the entire deployment.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Shubham Gaur  ·  meeting-memory-v4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5089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Meeting Memory v4 — Complete Overview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321040" y="48508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</a:rPr>
              <a:t>27 / 27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Meeting Memory v4 — Complete Overview</dc:title>
  <dc:subject>PptxGenJS Presentation</dc:subject>
  <dc:creator>Shubham Gaur</dc:creator>
  <cp:lastModifiedBy>Shubham Gaur</cp:lastModifiedBy>
  <cp:revision>1</cp:revision>
  <dcterms:created xsi:type="dcterms:W3CDTF">2026-07-09T00:40:53Z</dcterms:created>
  <dcterms:modified xsi:type="dcterms:W3CDTF">2026-07-09T00:40:53Z</dcterms:modified>
</cp:coreProperties>
</file>